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0" y="1828800"/>
            <a:ext cx="73152" cy="228600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1828800"/>
            <a:ext cx="7315200" cy="914400"/>
          </a:xfrm>
          <a:prstGeom prst="rect">
            <a:avLst/>
          </a:prstGeom>
          <a:noFill/>
        </p:spPr>
        <p:txBody>
          <a:bodyPr wrap="square">
            <a:spAutoFit/>
          </a:bodyPr>
          <a:lstStyle/>
          <a:p>
            <a:pPr algn="l">
              <a:spcBef>
                <a:spcPts val="0"/>
              </a:spcBef>
              <a:spcAft>
                <a:spcPts val="0"/>
              </a:spcAft>
              <a:lnSpc>
                <a:spcPct val="130000"/>
              </a:lnSpc>
            </a:pPr>
            <a:r>
              <a:rPr sz="4400" b="1">
                <a:solidFill>
                  <a:srgbClr val="0D1B1A"/>
                </a:solidFill>
                <a:latin typeface="Arial"/>
              </a:rPr>
              <a:t>Builder Digest</a:t>
            </a:r>
          </a:p>
        </p:txBody>
      </p:sp>
      <p:sp>
        <p:nvSpPr>
          <p:cNvPr id="6" name="TextBox 5"/>
          <p:cNvSpPr txBox="1"/>
          <p:nvPr/>
        </p:nvSpPr>
        <p:spPr>
          <a:xfrm>
            <a:off x="2743200" y="2834640"/>
            <a:ext cx="7315200" cy="548640"/>
          </a:xfrm>
          <a:prstGeom prst="rect">
            <a:avLst/>
          </a:prstGeom>
          <a:noFill/>
        </p:spPr>
        <p:txBody>
          <a:bodyPr wrap="square">
            <a:spAutoFit/>
          </a:bodyPr>
          <a:lstStyle/>
          <a:p>
            <a:pPr algn="l">
              <a:spcBef>
                <a:spcPts val="0"/>
              </a:spcBef>
              <a:spcAft>
                <a:spcPts val="0"/>
              </a:spcAft>
              <a:lnSpc>
                <a:spcPct val="130000"/>
              </a:lnSpc>
            </a:pPr>
            <a:r>
              <a:rPr sz="1800" b="0">
                <a:solidFill>
                  <a:srgbClr val="6B7D7A"/>
                </a:solidFill>
                <a:latin typeface="Arial"/>
              </a:rPr>
              <a:t>今日创造者精选 · April 30, 2026</a:t>
            </a:r>
          </a:p>
        </p:txBody>
      </p:sp>
      <p:sp>
        <p:nvSpPr>
          <p:cNvPr id="7" name="TextBox 6"/>
          <p:cNvSpPr txBox="1"/>
          <p:nvPr/>
        </p:nvSpPr>
        <p:spPr>
          <a:xfrm>
            <a:off x="2743200" y="3474720"/>
            <a:ext cx="7315200" cy="457200"/>
          </a:xfrm>
          <a:prstGeom prst="rect">
            <a:avLst/>
          </a:prstGeom>
          <a:noFill/>
        </p:spPr>
        <p:txBody>
          <a:bodyPr wrap="square">
            <a:spAutoFit/>
          </a:bodyPr>
          <a:lstStyle/>
          <a:p>
            <a:pPr algn="l">
              <a:spcBef>
                <a:spcPts val="0"/>
              </a:spcBef>
              <a:spcAft>
                <a:spcPts val="0"/>
              </a:spcAft>
              <a:lnSpc>
                <a:spcPct val="130000"/>
              </a:lnSpc>
            </a:pPr>
            <a:r>
              <a:rPr sz="1300" b="0">
                <a:solidFill>
                  <a:srgbClr val="9AAFAC"/>
                </a:solidFill>
                <a:latin typeface="Arial"/>
              </a:rPr>
              <a:t>精选 34 条推文 · 源自 X/Twitter</a:t>
            </a:r>
          </a:p>
        </p:txBody>
      </p:sp>
      <p:sp>
        <p:nvSpPr>
          <p:cNvPr id="8" name="TextBox 7"/>
          <p:cNvSpPr txBox="1"/>
          <p:nvPr/>
        </p:nvSpPr>
        <p:spPr>
          <a:xfrm>
            <a:off x="2743200" y="5029200"/>
            <a:ext cx="7315200" cy="457200"/>
          </a:xfrm>
          <a:prstGeom prst="rect">
            <a:avLst/>
          </a:prstGeom>
          <a:noFill/>
        </p:spPr>
        <p:txBody>
          <a:bodyPr wrap="square">
            <a:spAutoFit/>
          </a:bodyPr>
          <a:lstStyle/>
          <a:p>
            <a:pPr algn="l">
              <a:spcBef>
                <a:spcPts val="0"/>
              </a:spcBef>
              <a:spcAft>
                <a:spcPts val="0"/>
              </a:spcAft>
              <a:lnSpc>
                <a:spcPct val="130000"/>
              </a:lnSpc>
            </a:pPr>
            <a:r>
              <a:rPr sz="1600" b="1">
                <a:solidFill>
                  <a:srgbClr val="35C1BE"/>
                </a:solidFill>
                <a:latin typeface="Arial"/>
              </a:rPr>
              <a:t>牛雪梨AI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01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我无法形容这有多棒。</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Aditya Agarwal  @adityaag</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I cannot explain how awesome this is.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我无法形容这有多棒。</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https://x.com/adityaag/status/2049259492727234748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02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激动地支持这位教育界的“史上最佳”，</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Amjad Masad  @amasad</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Thrilled to support the education GOAT as he reinvents education (again).</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激动地支持这位教育界的“史上最佳”，因为他正在（再次）重塑教育。</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https://x.com/amasad/status/2049245424624820412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03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面对如此增长，</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Amjad Masad  @amasad</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It's honestly impressive that GitHub kept the service up at all, given this kind of growth. </a:t>
            </a:r>
          </a:p>
          <a:p>
            <a:pPr algn="l">
              <a:spcAft>
                <a:spcPts val="400"/>
              </a:spcAft>
              <a:lnSpc>
                <a:spcPct val="140000"/>
              </a:lnSpc>
            </a:pPr>
            <a:r>
              <a:rPr sz="1200">
                <a:solidFill>
                  <a:srgbClr val="1A2827"/>
                </a:solidFill>
                <a:latin typeface="Arial"/>
              </a:rPr>
              <a:t>I predicted this years ago: Free services will become untenable with the advent of human-level bots. </a:t>
            </a:r>
          </a:p>
          <a:p>
            <a:pPr algn="l">
              <a:spcAft>
                <a:spcPts val="400"/>
              </a:spcAft>
              <a:lnSpc>
                <a:spcPct val="140000"/>
              </a:lnSpc>
            </a:pPr>
            <a:r>
              <a:rPr sz="1200">
                <a:solidFill>
                  <a:srgbClr val="1A2827"/>
                </a:solidFill>
                <a:latin typeface="Arial"/>
              </a:rPr>
              <a:t>Worth exploring micro-payments: Even cents per git push might be enough to reduce spam and make this sustainable. Maybe powered by Bitcoin to keep this open and accessible (as opposed to KYCing users).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说实话，考虑到这种增长规模，GitHub 能维持服务运行确实令人印象深刻。</a:t>
            </a:r>
          </a:p>
          <a:p>
            <a:pPr algn="l">
              <a:spcAft>
                <a:spcPts val="400"/>
              </a:spcAft>
              <a:lnSpc>
                <a:spcPct val="140000"/>
              </a:lnSpc>
            </a:pPr>
            <a:r>
              <a:rPr sz="1200">
                <a:solidFill>
                  <a:srgbClr val="6B7D7A"/>
                </a:solidFill>
                <a:latin typeface="Arial"/>
              </a:rPr>
              <a:t>我多年前就预测过：随着人类级别机器人的出现，免费服务将变得不可持续。</a:t>
            </a:r>
          </a:p>
          <a:p>
            <a:pPr algn="l">
              <a:spcAft>
                <a:spcPts val="400"/>
              </a:spcAft>
              <a:lnSpc>
                <a:spcPct val="140000"/>
              </a:lnSpc>
            </a:pPr>
            <a:r>
              <a:rPr sz="1200">
                <a:solidFill>
                  <a:srgbClr val="6B7D7A"/>
                </a:solidFill>
                <a:latin typeface="Arial"/>
              </a:rPr>
              <a:t>值得探索微支付模式：即使每次 git 推送仅收取几分钱，也可能足以减少垃圾信息并使其可持续发展。或许可以借助比特币来保持开放性和可访问性（而非要求用户进行身份验证）。</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https://x.com/amasad/status/2049242460078100638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04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这些幻灯片其实做得非常好。</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Amjad Masad  @amasad</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The slides are actually really good. I used to pay people to make me slides and the process was always frustrating, but now I actually enjoy making them.</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这些幻灯片其实做得非常好。我以前常花钱请人做幻灯片，过程总是令人沮丧，但现在我反而很享受制作它们。</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https://x.com/amasad/status/2049168449709170874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05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今日新增更多连接器</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Claude  @claudeai</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More connectors launching today: Adobe Creative Cloud, Ableton, Splice, Canva Affinity, SketchUp, and Resolume.</a:t>
            </a:r>
          </a:p>
          <a:p>
            <a:pPr algn="l">
              <a:spcAft>
                <a:spcPts val="400"/>
              </a:spcAft>
              <a:lnSpc>
                <a:spcPct val="140000"/>
              </a:lnSpc>
            </a:pPr>
            <a:r>
              <a:rPr sz="1300">
                <a:solidFill>
                  <a:srgbClr val="1A2827"/>
                </a:solidFill>
                <a:latin typeface="Arial"/>
              </a:rPr>
              <a:t>We've also joined the Blender Development Fund as a patron to support open-source development of the software.</a:t>
            </a:r>
          </a:p>
          <a:p>
            <a:pPr algn="l">
              <a:spcAft>
                <a:spcPts val="400"/>
              </a:spcAft>
              <a:lnSpc>
                <a:spcPct val="140000"/>
              </a:lnSpc>
            </a:pPr>
            <a:r>
              <a:rPr sz="1300">
                <a:solidFill>
                  <a:srgbClr val="1A2827"/>
                </a:solidFill>
                <a:latin typeface="Arial"/>
              </a:rPr>
              <a:t>Read more: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今日新增更多连接器：Adobe Creative Cloud、Ableton、Splice、Canva Affinity、SketchUp 和 Resolume。</a:t>
            </a:r>
          </a:p>
          <a:p>
            <a:pPr algn="l">
              <a:spcAft>
                <a:spcPts val="400"/>
              </a:spcAft>
              <a:lnSpc>
                <a:spcPct val="140000"/>
              </a:lnSpc>
            </a:pPr>
            <a:r>
              <a:rPr sz="1200">
                <a:solidFill>
                  <a:srgbClr val="6B7D7A"/>
                </a:solidFill>
                <a:latin typeface="Arial"/>
              </a:rPr>
              <a:t>我们还加入了 Blender 开发基金，作为赞助方支持该软件的开源开发。</a:t>
            </a:r>
          </a:p>
          <a:p>
            <a:pPr algn="l">
              <a:spcAft>
                <a:spcPts val="400"/>
              </a:spcAft>
              <a:lnSpc>
                <a:spcPct val="140000"/>
              </a:lnSpc>
            </a:pPr>
            <a:r>
              <a:rPr sz="1200">
                <a:solidFill>
                  <a:srgbClr val="6B7D7A"/>
                </a:solidFill>
                <a:latin typeface="Arial"/>
              </a:rPr>
              <a:t>了解更多：</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https://x.com/claudeai/status/2049143442601546054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06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借助Autodesk Fusion连接器</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Claude  @claudeai</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With the Autodesk Fusion connector, designers and engineers can create and modify 3D models through conversation.</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借助Autodesk Fusion连接器，设计师与工程师可以通过对话创建和修改3D模型。</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https://x.com/claudeai/status/2049143440508616863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07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Claude现已连接创意专业人士常用的工</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Claude  @claudeai</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Claude now connects to the tools creative professionals already use.</a:t>
            </a:r>
          </a:p>
          <a:p>
            <a:pPr algn="l">
              <a:spcAft>
                <a:spcPts val="400"/>
              </a:spcAft>
              <a:lnSpc>
                <a:spcPct val="140000"/>
              </a:lnSpc>
            </a:pPr>
            <a:r>
              <a:rPr sz="1300">
                <a:solidFill>
                  <a:srgbClr val="1A2827"/>
                </a:solidFill>
                <a:latin typeface="Arial"/>
              </a:rPr>
              <a:t>With the new Blender connector, you can debug a scene, build new tools, or batch-apply changes across every object, directly from Claude.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Claude现已连接创意专业人士常用的工具。</a:t>
            </a:r>
          </a:p>
          <a:p>
            <a:pPr algn="l">
              <a:spcAft>
                <a:spcPts val="400"/>
              </a:spcAft>
              <a:lnSpc>
                <a:spcPct val="140000"/>
              </a:lnSpc>
            </a:pPr>
            <a:r>
              <a:rPr sz="1200">
                <a:solidFill>
                  <a:srgbClr val="6B7D7A"/>
                </a:solidFill>
                <a:latin typeface="Arial"/>
              </a:rPr>
              <a:t>借助全新的Blender连接器，您可以直接通过Claude调试场景、构建新工具，或对每个对象批量应用更改。</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https://x.com/claudeai/status/2049143438281445811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08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在 Codex 中使用 PostHog</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Dan Shipper  @danshipper</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using posthog inside of codex</a:t>
            </a:r>
          </a:p>
          <a:p>
            <a:pPr algn="l">
              <a:spcAft>
                <a:spcPts val="400"/>
              </a:spcAft>
              <a:lnSpc>
                <a:spcPct val="140000"/>
              </a:lnSpc>
            </a:pPr>
            <a:r>
              <a:rPr sz="1200">
                <a:solidFill>
                  <a:srgbClr val="1A2827"/>
                </a:solidFill>
                <a:latin typeface="Arial"/>
              </a:rPr>
              <a:t>it is SO MUCH better to browse posthog inside of codex—codex can write queries and see the results, and it makes our collaboration extremely seamless. codex can also kick off agents that write PRs or run production DB requests to back up insights it's finding</a:t>
            </a:r>
          </a:p>
          <a:p>
            <a:pPr algn="l">
              <a:spcAft>
                <a:spcPts val="400"/>
              </a:spcAft>
              <a:lnSpc>
                <a:spcPct val="140000"/>
              </a:lnSpc>
            </a:pPr>
            <a:r>
              <a:rPr sz="1200">
                <a:solidFill>
                  <a:srgbClr val="1A2827"/>
                </a:solidFill>
                <a:latin typeface="Arial"/>
              </a:rPr>
              <a:t>a browser inside your desktop coding orchestration tool &gt; an agent in your browser</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在 Codex 中使用 PostHog</a:t>
            </a:r>
          </a:p>
          <a:p>
            <a:pPr algn="l">
              <a:spcAft>
                <a:spcPts val="400"/>
              </a:spcAft>
              <a:lnSpc>
                <a:spcPct val="140000"/>
              </a:lnSpc>
            </a:pPr>
            <a:r>
              <a:rPr sz="1200">
                <a:solidFill>
                  <a:srgbClr val="6B7D7A"/>
                </a:solidFill>
                <a:latin typeface="Arial"/>
              </a:rPr>
              <a:t>在 Codex 中浏览 PostHog 的体验好太多了——Codex 可以编写查询并查看结果，这让我们的协作变得极其顺畅。Codex 还能启动智能体来编写 PR（拉取请求）或执行生产数据库请求，以验证它发现的洞察。</a:t>
            </a:r>
          </a:p>
          <a:p>
            <a:pPr algn="l">
              <a:spcAft>
                <a:spcPts val="400"/>
              </a:spcAft>
              <a:lnSpc>
                <a:spcPct val="140000"/>
              </a:lnSpc>
            </a:pPr>
            <a:r>
              <a:rPr sz="1200">
                <a:solidFill>
                  <a:srgbClr val="6B7D7A"/>
                </a:solidFill>
                <a:latin typeface="Arial"/>
              </a:rPr>
              <a:t>桌面端代码编排工具内置的浏览器 &gt; 浏览器中的智能体</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https://x.com/danshipper/status/2049236793761976357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09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我们可能需要创造一个术语</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Dan Shipper  @danshipper</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we might need to coin a new term:</a:t>
            </a:r>
          </a:p>
          <a:p>
            <a:pPr algn="l">
              <a:spcAft>
                <a:spcPts val="400"/>
              </a:spcAft>
              <a:lnSpc>
                <a:spcPct val="140000"/>
              </a:lnSpc>
            </a:pPr>
            <a:r>
              <a:rPr sz="1200">
                <a:solidFill>
                  <a:srgbClr val="1A2827"/>
                </a:solidFill>
                <a:latin typeface="Arial"/>
              </a:rPr>
              <a:t>Codex-native</a:t>
            </a:r>
            <a:br/>
            <a:r>
              <a:rPr sz="1200">
                <a:solidFill>
                  <a:srgbClr val="1A2827"/>
                </a:solidFill>
                <a:latin typeface="Arial"/>
              </a:rPr>
              <a:t>Cowork-native</a:t>
            </a:r>
            <a:br/>
            <a:r>
              <a:rPr sz="1200">
                <a:solidFill>
                  <a:srgbClr val="1A2827"/>
                </a:solidFill>
                <a:latin typeface="Arial"/>
              </a:rPr>
              <a:t>Cursor-native</a:t>
            </a:r>
          </a:p>
          <a:p>
            <a:pPr algn="l">
              <a:spcAft>
                <a:spcPts val="400"/>
              </a:spcAft>
              <a:lnSpc>
                <a:spcPct val="140000"/>
              </a:lnSpc>
            </a:pPr>
            <a:r>
              <a:rPr sz="1200">
                <a:solidFill>
                  <a:srgbClr val="1A2827"/>
                </a:solidFill>
                <a:latin typeface="Arial"/>
              </a:rPr>
              <a:t>apps designed to be used inside of the in-app browser of your agent of choice. the agent can use it and you can use it too, full context is shared, and you can both see what the other is doing.</a:t>
            </a:r>
          </a:p>
          <a:p>
            <a:pPr algn="l">
              <a:spcAft>
                <a:spcPts val="400"/>
              </a:spcAft>
              <a:lnSpc>
                <a:spcPct val="140000"/>
              </a:lnSpc>
            </a:pPr>
            <a:r>
              <a:rPr sz="1200">
                <a:solidFill>
                  <a:srgbClr val="1A2827"/>
                </a:solidFill>
                <a:latin typeface="Arial"/>
              </a:rPr>
              <a:t>huge opportunity to build software here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我们可能需要创造一个术语：</a:t>
            </a:r>
          </a:p>
          <a:p>
            <a:pPr algn="l">
              <a:spcAft>
                <a:spcPts val="400"/>
              </a:spcAft>
              <a:lnSpc>
                <a:spcPct val="140000"/>
              </a:lnSpc>
            </a:pPr>
            <a:r>
              <a:rPr sz="1200">
                <a:solidFill>
                  <a:srgbClr val="6B7D7A"/>
                </a:solidFill>
                <a:latin typeface="Arial"/>
              </a:rPr>
              <a:t>Codex原生</a:t>
            </a:r>
            <a:br/>
            <a:r>
              <a:rPr sz="1200">
                <a:solidFill>
                  <a:srgbClr val="6B7D7A"/>
                </a:solidFill>
                <a:latin typeface="Arial"/>
              </a:rPr>
              <a:t>Cowork原生</a:t>
            </a:r>
            <a:br/>
            <a:r>
              <a:rPr sz="1200">
                <a:solidFill>
                  <a:srgbClr val="6B7D7A"/>
                </a:solidFill>
                <a:latin typeface="Arial"/>
              </a:rPr>
              <a:t>Cursor原生</a:t>
            </a:r>
          </a:p>
          <a:p>
            <a:pPr algn="l">
              <a:spcAft>
                <a:spcPts val="400"/>
              </a:spcAft>
              <a:lnSpc>
                <a:spcPct val="140000"/>
              </a:lnSpc>
            </a:pPr>
            <a:r>
              <a:rPr sz="1200">
                <a:solidFill>
                  <a:srgbClr val="6B7D7A"/>
                </a:solidFill>
                <a:latin typeface="Arial"/>
              </a:rPr>
              <a:t>这些应用专为在你所选代理的内置浏览器中使用而设计。代理可以使用它，你也可以使用它，完整的上下文会被共享，你们双方都能看到对方在做什么。</a:t>
            </a:r>
          </a:p>
          <a:p>
            <a:pPr algn="l">
              <a:spcAft>
                <a:spcPts val="400"/>
              </a:spcAft>
              <a:lnSpc>
                <a:spcPct val="140000"/>
              </a:lnSpc>
            </a:pPr>
            <a:r>
              <a:rPr sz="1200">
                <a:solidFill>
                  <a:srgbClr val="6B7D7A"/>
                </a:solidFill>
                <a:latin typeface="Arial"/>
              </a:rPr>
              <a:t>这里蕴藏着构建软件的巨大机遇。</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https://x.com/danshipper/status/2049223943735726150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10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我们可能需要创造一个新术语</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Dan Shipper  @danshipper</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we might need to coin a new term:</a:t>
            </a:r>
          </a:p>
          <a:p>
            <a:pPr algn="l">
              <a:spcAft>
                <a:spcPts val="400"/>
              </a:spcAft>
              <a:lnSpc>
                <a:spcPct val="140000"/>
              </a:lnSpc>
            </a:pPr>
            <a:r>
              <a:rPr sz="1200">
                <a:solidFill>
                  <a:srgbClr val="1A2827"/>
                </a:solidFill>
                <a:latin typeface="Arial"/>
              </a:rPr>
              <a:t>Codex-native</a:t>
            </a:r>
            <a:br/>
            <a:r>
              <a:rPr sz="1200">
                <a:solidFill>
                  <a:srgbClr val="1A2827"/>
                </a:solidFill>
                <a:latin typeface="Arial"/>
              </a:rPr>
              <a:t>Cowork-native</a:t>
            </a:r>
            <a:br/>
            <a:r>
              <a:rPr sz="1200">
                <a:solidFill>
                  <a:srgbClr val="1A2827"/>
                </a:solidFill>
                <a:latin typeface="Arial"/>
              </a:rPr>
              <a:t>Cursor-native</a:t>
            </a:r>
          </a:p>
          <a:p>
            <a:pPr algn="l">
              <a:spcAft>
                <a:spcPts val="400"/>
              </a:spcAft>
              <a:lnSpc>
                <a:spcPct val="140000"/>
              </a:lnSpc>
            </a:pPr>
            <a:r>
              <a:rPr sz="1200">
                <a:solidFill>
                  <a:srgbClr val="1A2827"/>
                </a:solidFill>
                <a:latin typeface="Arial"/>
              </a:rPr>
              <a:t>apps designed to be used inside of the in-app browser of your agent of choice. the agent can use it and you can use it too, full context is shared, and you can both see what the other is doing.</a:t>
            </a:r>
          </a:p>
          <a:p>
            <a:pPr algn="l">
              <a:spcAft>
                <a:spcPts val="400"/>
              </a:spcAft>
              <a:lnSpc>
                <a:spcPct val="140000"/>
              </a:lnSpc>
            </a:pPr>
            <a:r>
              <a:rPr sz="1200">
                <a:solidFill>
                  <a:srgbClr val="1A2827"/>
                </a:solidFill>
                <a:latin typeface="Arial"/>
              </a:rPr>
              <a:t>huge opportunity to build software here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我们可能需要创造一个新术语：</a:t>
            </a:r>
          </a:p>
          <a:p>
            <a:pPr algn="l">
              <a:spcAft>
                <a:spcPts val="400"/>
              </a:spcAft>
              <a:lnSpc>
                <a:spcPct val="140000"/>
              </a:lnSpc>
            </a:pPr>
            <a:r>
              <a:rPr sz="1200">
                <a:solidFill>
                  <a:srgbClr val="6B7D7A"/>
                </a:solidFill>
                <a:latin typeface="Arial"/>
              </a:rPr>
              <a:t>Codex原生</a:t>
            </a:r>
            <a:br/>
            <a:r>
              <a:rPr sz="1200">
                <a:solidFill>
                  <a:srgbClr val="6B7D7A"/>
                </a:solidFill>
                <a:latin typeface="Arial"/>
              </a:rPr>
              <a:t>Cowork原生</a:t>
            </a:r>
            <a:br/>
            <a:r>
              <a:rPr sz="1200">
                <a:solidFill>
                  <a:srgbClr val="6B7D7A"/>
                </a:solidFill>
                <a:latin typeface="Arial"/>
              </a:rPr>
              <a:t>Cursor原生</a:t>
            </a:r>
          </a:p>
          <a:p>
            <a:pPr algn="l">
              <a:spcAft>
                <a:spcPts val="400"/>
              </a:spcAft>
              <a:lnSpc>
                <a:spcPct val="140000"/>
              </a:lnSpc>
            </a:pPr>
            <a:r>
              <a:rPr sz="1200">
                <a:solidFill>
                  <a:srgbClr val="6B7D7A"/>
                </a:solidFill>
                <a:latin typeface="Arial"/>
              </a:rPr>
              <a:t>这些应用是设计在你所选智能体的应用内浏览器中使用的。智能体可以使用它，你也可以使用它，完整的上下文会被共享，并且你们双方都能看到对方在做什么。</a:t>
            </a:r>
          </a:p>
          <a:p>
            <a:pPr algn="l">
              <a:spcAft>
                <a:spcPts val="400"/>
              </a:spcAft>
              <a:lnSpc>
                <a:spcPct val="140000"/>
              </a:lnSpc>
            </a:pPr>
            <a:r>
              <a:rPr sz="1200">
                <a:solidFill>
                  <a:srgbClr val="6B7D7A"/>
                </a:solidFill>
                <a:latin typeface="Arial"/>
              </a:rPr>
              <a:t>这里蕴藏着构建软件的巨大机遇。</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https://x.com/danshipper/status/2049223933766041688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11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如果你已经听腻了关于智能体的讨论，</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Garry Tan  @garrytan</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If you’re sick of hearing about agents 2026 is going to be the eternal September for you</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如果你已经听腻了关于智能体的讨论，2026年对你来说将是永恒的九月</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https://x.com/garrytan/status/2049351894007710031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12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这居然能行，有点好笑</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Garry Tan  @garrytan</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kind of hilarious this works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这居然能行，有点好笑</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https://x.com/garrytan/status/2049334723009458388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13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AlphaGo问世十周年</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Garry Tan  @garrytan</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10 years since AlphaGo</a:t>
            </a:r>
            <a:br/>
            <a:r>
              <a:rPr sz="1300">
                <a:solidFill>
                  <a:srgbClr val="1A2827"/>
                </a:solidFill>
                <a:latin typeface="Arial"/>
              </a:rPr>
              <a:t>Incredible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AlphaGo问世十周年</a:t>
            </a:r>
            <a:br/>
            <a:r>
              <a:rPr sz="1200">
                <a:solidFill>
                  <a:srgbClr val="6B7D7A"/>
                </a:solidFill>
                <a:latin typeface="Arial"/>
              </a:rPr>
              <a:t>不可思议</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https://x.com/garrytan/status/2049297833594101943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14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我还是要反复强调：软件工作不会消失</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Aaron Levie  @levie</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Will keep saying this, but software jobs aren’t going away. Agents are the single biggest form of leverage for anyone technical in history. Probably has never been a better time to be technical in terms of being able to accomplish something solo, in a team, or company.</a:t>
            </a:r>
          </a:p>
          <a:p>
            <a:pPr algn="l">
              <a:spcAft>
                <a:spcPts val="400"/>
              </a:spcAft>
              <a:lnSpc>
                <a:spcPct val="140000"/>
              </a:lnSpc>
            </a:pPr>
            <a:r>
              <a:rPr sz="1200">
                <a:solidFill>
                  <a:srgbClr val="1A2827"/>
                </a:solidFill>
                <a:latin typeface="Arial"/>
              </a:rPr>
              <a:t>We think that most of the world’s software has already been built and that agents will just reduce work from an existing pie. In fact, we are about to experience 100X more software than before. </a:t>
            </a:r>
          </a:p>
          <a:p>
            <a:pPr algn="l">
              <a:spcAft>
                <a:spcPts val="400"/>
              </a:spcAft>
              <a:lnSpc>
                <a:spcPct val="140000"/>
              </a:lnSpc>
            </a:pPr>
            <a:r>
              <a:rPr sz="1200">
                <a:solidFill>
                  <a:srgbClr val="1A2827"/>
                </a:solidFill>
                <a:latin typeface="Arial"/>
              </a:rPr>
              <a:t>Think about how many apps you regularly use that need to get better. How many legacy on prem systems that have to get replatformed for the cloud. How many SMBs never could hire developers. How many security issues are about to be uncovered and need to get patched. How many IT organizations are about to bring automation to workflows they never could have automated. How much data is about to processed and connected in most organizations. This is all what the agents will be working on.</a:t>
            </a:r>
          </a:p>
          <a:p>
            <a:pPr algn="l">
              <a:spcAft>
                <a:spcPts val="400"/>
              </a:spcAft>
              <a:lnSpc>
                <a:spcPct val="140000"/>
              </a:lnSpc>
            </a:pPr>
            <a:r>
              <a:rPr sz="1200">
                <a:solidFill>
                  <a:srgbClr val="1A2827"/>
                </a:solidFill>
                <a:latin typeface="Arial"/>
              </a:rPr>
              <a:t>And every one of those agents will need a person to kick them off, manage their work, orchestrate them, and get their output into a workable and useful form. That person will generally need to be technical (or become technical quickly), and this will create a huge amount of opportunity for anyone up to the task.</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100">
                <a:solidFill>
                  <a:srgbClr val="6B7D7A"/>
                </a:solidFill>
                <a:latin typeface="Arial"/>
              </a:rPr>
              <a:t>我还是要反复强调：软件工作不会消失。智能体是历史上技术人员所能拥有的最大杠杆。就个人独立完成、团队协作或公司层面的成就而言，现在可能是成为技术人员最好的时代。</a:t>
            </a:r>
          </a:p>
          <a:p>
            <a:pPr algn="l">
              <a:spcAft>
                <a:spcPts val="400"/>
              </a:spcAft>
              <a:lnSpc>
                <a:spcPct val="140000"/>
              </a:lnSpc>
            </a:pPr>
            <a:r>
              <a:rPr sz="1100">
                <a:solidFill>
                  <a:srgbClr val="6B7D7A"/>
                </a:solidFill>
                <a:latin typeface="Arial"/>
              </a:rPr>
              <a:t>有人认为世界上大部分软件已经建成，智能体只会从现有蛋糕中削减工作量。但事实上，我们即将迎来比以往多100倍的软件。</a:t>
            </a:r>
          </a:p>
          <a:p>
            <a:pPr algn="l">
              <a:spcAft>
                <a:spcPts val="400"/>
              </a:spcAft>
              <a:lnSpc>
                <a:spcPct val="140000"/>
              </a:lnSpc>
            </a:pPr>
            <a:r>
              <a:rPr sz="1100">
                <a:solidFill>
                  <a:srgbClr val="6B7D7A"/>
                </a:solidFill>
                <a:latin typeface="Arial"/>
              </a:rPr>
              <a:t>想想你日常使用的那些需要改进的应用有多少？有多少遗留的本地部署系统需要迁移到云端？有多少中小企业从未有能力雇佣开发者？有多少安全问题即将暴露并需要修复？有多少IT组织即将实现过去无法自动化的流程自动化？有多少数据需要在大多数组织中被处理和连接？这些正是智能体将要承担的工作。</a:t>
            </a:r>
          </a:p>
          <a:p>
            <a:pPr algn="l">
              <a:spcAft>
                <a:spcPts val="400"/>
              </a:spcAft>
              <a:lnSpc>
                <a:spcPct val="140000"/>
              </a:lnSpc>
            </a:pPr>
            <a:r>
              <a:rPr sz="1100">
                <a:solidFill>
                  <a:srgbClr val="6B7D7A"/>
                </a:solidFill>
                <a:latin typeface="Arial"/>
              </a:rPr>
              <a:t>而每一个这样的智能体都需要有人来启动它、管理它的工作、协调它的运作，并将它的输出转化为可行且有用的形式。这个人通常需要具备技术能力（或快速掌握技术），这将为任何能胜任这项任务的人创造巨大的机遇。</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https://x.com/levie/status/2049333853777764495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15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智能编码对软件开发人员而言是一大福音</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Aaron Levie  @levie</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Agentic coding is a huge boon for software developers that want to get far more done, great for IT people to build vastly more custom systems internally, great for domain experts that want to automate workflows or wire systems together, and absolutely fantastic for anyone curious to learn how to start coding. </a:t>
            </a:r>
          </a:p>
          <a:p>
            <a:pPr algn="l">
              <a:spcAft>
                <a:spcPts val="400"/>
              </a:spcAft>
              <a:lnSpc>
                <a:spcPct val="140000"/>
              </a:lnSpc>
            </a:pPr>
            <a:r>
              <a:rPr sz="1200">
                <a:solidFill>
                  <a:srgbClr val="1A2827"/>
                </a:solidFill>
                <a:latin typeface="Arial"/>
              </a:rPr>
              <a:t>What it’s less great for is casually building complex software that you have to maintain on an ongoing basis and take on all the risk for. Upgrades, maintenance, keeping up to date with latest security issues, and so on, are taxes most knowledge workers aren’t familiar with or prepared for.</a:t>
            </a:r>
          </a:p>
          <a:p>
            <a:pPr algn="l">
              <a:spcAft>
                <a:spcPts val="400"/>
              </a:spcAft>
              <a:lnSpc>
                <a:spcPct val="140000"/>
              </a:lnSpc>
            </a:pPr>
            <a:r>
              <a:rPr sz="1200">
                <a:solidFill>
                  <a:srgbClr val="1A2827"/>
                </a:solidFill>
                <a:latin typeface="Arial"/>
              </a:rPr>
              <a:t>Net net: we’re going to get 100X more software and vastly more software developers in the future. But that’s different from *everyone* rolling their own.</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100">
                <a:solidFill>
                  <a:srgbClr val="6B7D7A"/>
                </a:solidFill>
                <a:latin typeface="Arial"/>
              </a:rPr>
              <a:t>智能编码对希望大幅提升效率的软件开发人员而言是一大福音，对IT人员构建更强大的内部定制系统大有裨益，对希望自动化工作流程或整合系统的领域专家极为有利，对任何想学习编程入门的人来说更是绝佳工具。</a:t>
            </a:r>
          </a:p>
          <a:p>
            <a:pPr algn="l">
              <a:spcAft>
                <a:spcPts val="400"/>
              </a:spcAft>
              <a:lnSpc>
                <a:spcPct val="140000"/>
              </a:lnSpc>
            </a:pPr>
            <a:r>
              <a:rPr sz="1100">
                <a:solidFill>
                  <a:srgbClr val="6B7D7A"/>
                </a:solidFill>
                <a:latin typeface="Arial"/>
              </a:rPr>
              <a:t>但它不太适合随意构建需要长期维护且承担全部风险的复杂软件。升级、维护、跟进最新安全漏洞等，都是大多数知识工作者不熟悉或未做好准备要承担的"隐性成本"。</a:t>
            </a:r>
          </a:p>
          <a:p>
            <a:pPr algn="l">
              <a:spcAft>
                <a:spcPts val="400"/>
              </a:spcAft>
              <a:lnSpc>
                <a:spcPct val="140000"/>
              </a:lnSpc>
            </a:pPr>
            <a:r>
              <a:rPr sz="1100">
                <a:solidFill>
                  <a:srgbClr val="6B7D7A"/>
                </a:solidFill>
                <a:latin typeface="Arial"/>
              </a:rPr>
              <a:t>归根结底：未来我们将拥有100倍以上的软件和更多软件开发人员。但这与"人人都自己动手开发"是两回事。</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https://x.com/levie/status/2049163935182733396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16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你听我说了吗，匿名者？</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Nikunj Kothari  @nikunj</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Did you listen to me anon?</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你听我说了吗，匿名者？</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https://x.com/nikunj/status/2049337947066183856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17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@varadh @trq212 制作这个</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Nikunj Kothari  @nikunj</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@varadh @trq212 I had way TOO much fun building this button</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@varadh @trq212 制作这个按钮让我玩得太开心了</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https://x.com/nikunj/status/2049228229572256236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18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没人会相信我，但这事就发生在今天早上..</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Nikunj Kothari  @nikunj</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No one will believe me but this happened this morning..</a:t>
            </a:r>
          </a:p>
          <a:p>
            <a:pPr algn="l">
              <a:spcAft>
                <a:spcPts val="400"/>
              </a:spcAft>
              <a:lnSpc>
                <a:spcPct val="140000"/>
              </a:lnSpc>
            </a:pPr>
            <a:r>
              <a:rPr sz="1300">
                <a:solidFill>
                  <a:srgbClr val="1A2827"/>
                </a:solidFill>
                <a:latin typeface="Arial"/>
              </a:rPr>
              <a:t>X (clearly a founder): I’m talking to all the Tier 1 VCs - and have second meetings. </a:t>
            </a:r>
          </a:p>
          <a:p>
            <a:pPr algn="l">
              <a:spcAft>
                <a:spcPts val="400"/>
              </a:spcAft>
              <a:lnSpc>
                <a:spcPct val="140000"/>
              </a:lnSpc>
            </a:pPr>
            <a:r>
              <a:rPr sz="1300">
                <a:solidFill>
                  <a:srgbClr val="1A2827"/>
                </a:solidFill>
                <a:latin typeface="Arial"/>
              </a:rPr>
              <a:t>Y (angel, friend maybe): You mean the neolab index funds?</a:t>
            </a:r>
          </a:p>
          <a:p>
            <a:pPr algn="l">
              <a:spcAft>
                <a:spcPts val="400"/>
              </a:spcAft>
              <a:lnSpc>
                <a:spcPct val="140000"/>
              </a:lnSpc>
            </a:pPr>
            <a:r>
              <a:rPr sz="1300">
                <a:solidFill>
                  <a:srgbClr val="1A2827"/>
                </a:solidFill>
                <a:latin typeface="Arial"/>
              </a:rPr>
              <a:t>💀</a:t>
            </a:r>
          </a:p>
          <a:p>
            <a:pPr algn="l">
              <a:spcAft>
                <a:spcPts val="400"/>
              </a:spcAft>
              <a:lnSpc>
                <a:spcPct val="140000"/>
              </a:lnSpc>
            </a:pPr>
            <a:r>
              <a:rPr sz="1300">
                <a:solidFill>
                  <a:srgbClr val="1A2827"/>
                </a:solidFill>
                <a:latin typeface="Arial"/>
              </a:rPr>
              <a:t>📌 Sightglass on 7th St</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没人会相信我，但这事就发生在今天早上..</a:t>
            </a:r>
          </a:p>
          <a:p>
            <a:pPr algn="l">
              <a:spcAft>
                <a:spcPts val="400"/>
              </a:spcAft>
              <a:lnSpc>
                <a:spcPct val="140000"/>
              </a:lnSpc>
            </a:pPr>
            <a:r>
              <a:rPr sz="1200">
                <a:solidFill>
                  <a:srgbClr val="6B7D7A"/>
                </a:solidFill>
                <a:latin typeface="Arial"/>
              </a:rPr>
              <a:t>X（明显是一位创始人）：我正在和所有顶级风投谈——已经进入第二轮会议了。</a:t>
            </a:r>
          </a:p>
          <a:p>
            <a:pPr algn="l">
              <a:spcAft>
                <a:spcPts val="400"/>
              </a:spcAft>
              <a:lnSpc>
                <a:spcPct val="140000"/>
              </a:lnSpc>
            </a:pPr>
            <a:r>
              <a:rPr sz="1200">
                <a:solidFill>
                  <a:srgbClr val="6B7D7A"/>
                </a:solidFill>
                <a:latin typeface="Arial"/>
              </a:rPr>
              <a:t>Y（可能是天使投资人或朋友）：你是说Neolab指数基金吗？</a:t>
            </a:r>
          </a:p>
          <a:p>
            <a:pPr algn="l">
              <a:spcAft>
                <a:spcPts val="400"/>
              </a:spcAft>
              <a:lnSpc>
                <a:spcPct val="140000"/>
              </a:lnSpc>
            </a:pPr>
            <a:r>
              <a:rPr sz="1200">
                <a:solidFill>
                  <a:srgbClr val="6B7D7A"/>
                </a:solidFill>
                <a:latin typeface="Arial"/>
              </a:rPr>
              <a:t/>
            </a:r>
          </a:p>
          <a:p>
            <a:pPr algn="l">
              <a:spcAft>
                <a:spcPts val="400"/>
              </a:spcAft>
              <a:lnSpc>
                <a:spcPct val="140000"/>
              </a:lnSpc>
            </a:pPr>
            <a:r>
              <a:rPr sz="1200">
                <a:solidFill>
                  <a:srgbClr val="6B7D7A"/>
                </a:solidFill>
                <a:latin typeface="Arial"/>
              </a:rPr>
              <a:t> 第七街的Sightglass</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https://x.com/nikunj/status/2049179647519125976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19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这对个人代理来说确实很出色 @Shpig</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Yang  @petergyang</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This is actually brilliant for personal agents @Shpigford - stealing this for my OpenClaw now.</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这对个人代理来说确实很出色 @Shpigford - 我现在要把它用到我的 OpenClaw 上。</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https://x.com/petergyang/status/2049347897310003443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20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我对独立AI开发者充满敬意。</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Yang  @petergyang</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I have alot of respect for solo AI builders.</a:t>
            </a:r>
          </a:p>
          <a:p>
            <a:pPr algn="l">
              <a:spcAft>
                <a:spcPts val="400"/>
              </a:spcAft>
              <a:lnSpc>
                <a:spcPct val="140000"/>
              </a:lnSpc>
            </a:pPr>
            <a:r>
              <a:rPr sz="1300">
                <a:solidFill>
                  <a:srgbClr val="1A2827"/>
                </a:solidFill>
                <a:latin typeface="Arial"/>
              </a:rPr>
              <a:t>The world is their playground now.</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我对独立AI开发者充满敬意。</a:t>
            </a:r>
          </a:p>
          <a:p>
            <a:pPr algn="l">
              <a:spcAft>
                <a:spcPts val="400"/>
              </a:spcAft>
              <a:lnSpc>
                <a:spcPct val="140000"/>
              </a:lnSpc>
            </a:pPr>
            <a:r>
              <a:rPr sz="1200">
                <a:solidFill>
                  <a:srgbClr val="6B7D7A"/>
                </a:solidFill>
                <a:latin typeface="Arial"/>
              </a:rPr>
              <a:t>如今，整个世界都是他们的游乐场。</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https://x.com/petergyang/status/2049345724559847585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21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如果我们用游戏时代来衡量AI模型的能力会</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Yang  @petergyang</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What if we measure how good AI models are by what era of games it can one shot a single level for (or maybe build with 30 min of work):</a:t>
            </a:r>
          </a:p>
          <a:p>
            <a:pPr algn="l">
              <a:spcAft>
                <a:spcPts val="400"/>
              </a:spcAft>
              <a:lnSpc>
                <a:spcPct val="140000"/>
              </a:lnSpc>
            </a:pPr>
            <a:r>
              <a:rPr sz="1200">
                <a:solidFill>
                  <a:srgbClr val="1A2827"/>
                </a:solidFill>
                <a:latin typeface="Arial"/>
              </a:rPr>
              <a:t>Atari</a:t>
            </a:r>
            <a:br/>
            <a:r>
              <a:rPr sz="1200">
                <a:solidFill>
                  <a:srgbClr val="1A2827"/>
                </a:solidFill>
                <a:latin typeface="Arial"/>
              </a:rPr>
              <a:t>NES</a:t>
            </a:r>
            <a:br/>
            <a:r>
              <a:rPr sz="1200">
                <a:solidFill>
                  <a:srgbClr val="1A2827"/>
                </a:solidFill>
                <a:latin typeface="Arial"/>
              </a:rPr>
              <a:t>SNES, Sega Genesis</a:t>
            </a:r>
            <a:br/>
            <a:r>
              <a:rPr sz="1200">
                <a:solidFill>
                  <a:srgbClr val="1A2827"/>
                </a:solidFill>
                <a:latin typeface="Arial"/>
              </a:rPr>
              <a:t>PlayStation, N64</a:t>
            </a:r>
            <a:br/>
            <a:r>
              <a:rPr sz="1200">
                <a:solidFill>
                  <a:srgbClr val="1A2827"/>
                </a:solidFill>
                <a:latin typeface="Arial"/>
              </a:rPr>
              <a:t>PS2, Xbox, GameCube, Dreamcast</a:t>
            </a:r>
            <a:br/>
            <a:r>
              <a:rPr sz="1200">
                <a:solidFill>
                  <a:srgbClr val="1A2827"/>
                </a:solidFill>
                <a:latin typeface="Arial"/>
              </a:rPr>
              <a:t>Xbox 360, PS3, Wii</a:t>
            </a:r>
            <a:br/>
            <a:r>
              <a:rPr sz="1200">
                <a:solidFill>
                  <a:srgbClr val="1A2827"/>
                </a:solidFill>
                <a:latin typeface="Arial"/>
              </a:rPr>
              <a:t>PS4, Xbox One, Switch</a:t>
            </a:r>
            <a:br/>
            <a:r>
              <a:rPr sz="1200">
                <a:solidFill>
                  <a:srgbClr val="1A2827"/>
                </a:solidFill>
                <a:latin typeface="Arial"/>
              </a:rPr>
              <a:t>PS5, Xbox Series X/S</a:t>
            </a:r>
          </a:p>
          <a:p>
            <a:pPr algn="l">
              <a:spcAft>
                <a:spcPts val="400"/>
              </a:spcAft>
              <a:lnSpc>
                <a:spcPct val="140000"/>
              </a:lnSpc>
            </a:pPr>
            <a:r>
              <a:rPr sz="1200">
                <a:solidFill>
                  <a:srgbClr val="1A2827"/>
                </a:solidFill>
                <a:latin typeface="Arial"/>
              </a:rPr>
              <a:t>I think we're still in the NES era?</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如果我们根据AI模型能一次性通关（或花30分钟构建）哪个时代的游戏关卡来衡量其水平：</a:t>
            </a:r>
          </a:p>
          <a:p>
            <a:pPr algn="l">
              <a:spcAft>
                <a:spcPts val="400"/>
              </a:spcAft>
              <a:lnSpc>
                <a:spcPct val="140000"/>
              </a:lnSpc>
            </a:pPr>
            <a:r>
              <a:rPr sz="1200">
                <a:solidFill>
                  <a:srgbClr val="6B7D7A"/>
                </a:solidFill>
                <a:latin typeface="Arial"/>
              </a:rPr>
              <a:t>雅达利</a:t>
            </a:r>
            <a:br/>
            <a:r>
              <a:rPr sz="1200">
                <a:solidFill>
                  <a:srgbClr val="6B7D7A"/>
                </a:solidFill>
                <a:latin typeface="Arial"/>
              </a:rPr>
              <a:t>红白机</a:t>
            </a:r>
            <a:br/>
            <a:r>
              <a:rPr sz="1200">
                <a:solidFill>
                  <a:srgbClr val="6B7D7A"/>
                </a:solidFill>
                <a:latin typeface="Arial"/>
              </a:rPr>
              <a:t>超级任天堂、世嘉MD</a:t>
            </a:r>
            <a:br/>
            <a:r>
              <a:rPr sz="1200">
                <a:solidFill>
                  <a:srgbClr val="6B7D7A"/>
                </a:solidFill>
                <a:latin typeface="Arial"/>
              </a:rPr>
              <a:t>PlayStation、N64</a:t>
            </a:r>
            <a:br/>
            <a:r>
              <a:rPr sz="1200">
                <a:solidFill>
                  <a:srgbClr val="6B7D7A"/>
                </a:solidFill>
                <a:latin typeface="Arial"/>
              </a:rPr>
              <a:t>PS2、Xbox、GameCube、Dreamcast</a:t>
            </a:r>
            <a:br/>
            <a:r>
              <a:rPr sz="1200">
                <a:solidFill>
                  <a:srgbClr val="6B7D7A"/>
                </a:solidFill>
                <a:latin typeface="Arial"/>
              </a:rPr>
              <a:t>Xbox 360、PS3、Wii</a:t>
            </a:r>
            <a:br/>
            <a:r>
              <a:rPr sz="1200">
                <a:solidFill>
                  <a:srgbClr val="6B7D7A"/>
                </a:solidFill>
                <a:latin typeface="Arial"/>
              </a:rPr>
              <a:t>PS4、Xbox One、Switch</a:t>
            </a:r>
            <a:br/>
            <a:r>
              <a:rPr sz="1200">
                <a:solidFill>
                  <a:srgbClr val="6B7D7A"/>
                </a:solidFill>
                <a:latin typeface="Arial"/>
              </a:rPr>
              <a:t>PS5、Xbox Series X/S</a:t>
            </a:r>
          </a:p>
          <a:p>
            <a:pPr algn="l">
              <a:spcAft>
                <a:spcPts val="400"/>
              </a:spcAft>
              <a:lnSpc>
                <a:spcPct val="140000"/>
              </a:lnSpc>
            </a:pPr>
            <a:r>
              <a:rPr sz="1200">
                <a:solidFill>
                  <a:srgbClr val="6B7D7A"/>
                </a:solidFill>
                <a:latin typeface="Arial"/>
              </a:rPr>
              <a:t>我觉得我们可能还停留在红白机时代？</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https://x.com/petergyang/status/2049232534064734331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22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Vercel Labs团队正在壮大。</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Guillermo Rauch  @rauchg</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200">
                <a:solidFill>
                  <a:srgbClr val="1A2827"/>
                </a:solidFill>
                <a:latin typeface="Arial"/>
              </a:rPr>
              <a:t>We're growing the Vercel Labs team. Our mission is to build the devtools of the AI era.</a:t>
            </a:r>
          </a:p>
          <a:p>
            <a:pPr algn="l">
              <a:spcAft>
                <a:spcPts val="400"/>
              </a:spcAft>
              <a:lnSpc>
                <a:spcPct val="140000"/>
              </a:lnSpc>
            </a:pPr>
            <a:r>
              <a:rPr sz="1200">
                <a:solidFill>
                  <a:srgbClr val="1A2827"/>
                </a:solidFill>
                <a:latin typeface="Arial"/>
              </a:rPr>
              <a:t>We used to build tools for humans, now we're building them for agents. @ctatedev &amp; team have shipped the tools that agents love: 𝚊𝚐𝚎𝚗𝚝-𝚋𝚛𝚘𝚠𝚜𝚎𝚛, 𝚙𝚘𝚛𝚝𝚕𝚎𝚜𝚜, 𝚜𝚔𝚒𝚕𝚕𝚜, 𝚌𝚑𝚊𝚝, 𝚓𝚞𝚜𝚝-𝚋𝚊𝚜𝚑, 𝚓𝚜𝚘𝚗-𝚛𝚎𝚗𝚍𝚎𝚛… 22.8M+ downloads to date.</a:t>
            </a:r>
          </a:p>
          <a:p>
            <a:pPr algn="l">
              <a:spcAft>
                <a:spcPts val="400"/>
              </a:spcAft>
              <a:lnSpc>
                <a:spcPct val="140000"/>
              </a:lnSpc>
            </a:pPr>
            <a:r>
              <a:rPr sz="1200">
                <a:solidFill>
                  <a:srgbClr val="1A2827"/>
                </a:solidFill>
                <a:latin typeface="Arial"/>
              </a:rPr>
              <a:t>Dream job. DMs open 😀</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Vercel Labs团队正在壮大。我们的使命是打造AI时代的开发者工具。</a:t>
            </a:r>
          </a:p>
          <a:p>
            <a:pPr algn="l">
              <a:spcAft>
                <a:spcPts val="400"/>
              </a:spcAft>
              <a:lnSpc>
                <a:spcPct val="140000"/>
              </a:lnSpc>
            </a:pPr>
            <a:r>
              <a:rPr sz="1200">
                <a:solidFill>
                  <a:srgbClr val="6B7D7A"/>
                </a:solidFill>
                <a:latin typeface="Arial"/>
              </a:rPr>
              <a:t>过去我们为人类构建工具，现在我们在为智能体构建工具。@ctatedev 和团队已经推出了智能体们喜爱的工具：𝚊𝚐𝚎𝚗𝚝-𝚋𝚛𝚘𝚠𝚜𝚎𝚛、𝚙𝚘𝚛𝚝𝚕𝚎𝚜𝚜、𝚜𝚔𝚒𝚕𝚕𝚜、𝚌𝚑𝚊𝚝、𝚓𝚞𝚜𝚝-𝚋𝚊𝚜𝚑、𝚓𝚜𝚘𝚗-𝚛𝚎𝚗𝚍𝚎𝚛……截至目前累计下载量已超过2280万次。</a:t>
            </a:r>
          </a:p>
          <a:p>
            <a:pPr algn="l">
              <a:spcAft>
                <a:spcPts val="400"/>
              </a:spcAft>
              <a:lnSpc>
                <a:spcPct val="140000"/>
              </a:lnSpc>
            </a:pPr>
            <a:r>
              <a:rPr sz="1200">
                <a:solidFill>
                  <a:srgbClr val="6B7D7A"/>
                </a:solidFill>
                <a:latin typeface="Arial"/>
              </a:rPr>
              <a:t>梦想中的工作。私信开放中</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https://x.com/rauchg/status/2049216048831025232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23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此刻 @ajambrosino 正在大快</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Sam Altman  @sama</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at this point @ajambrosino is mogmogging</a:t>
            </a:r>
          </a:p>
          <a:p>
            <a:pPr algn="l">
              <a:spcAft>
                <a:spcPts val="400"/>
              </a:spcAft>
              <a:lnSpc>
                <a:spcPct val="140000"/>
              </a:lnSpc>
            </a:pPr>
            <a:r>
              <a:rPr sz="1300">
                <a:solidFill>
                  <a:srgbClr val="1A2827"/>
                </a:solidFill>
                <a:latin typeface="Arial"/>
              </a:rPr>
              <a:t>enjoy the next few updates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此刻 @ajambrosino 正在大快朵颐</a:t>
            </a:r>
          </a:p>
          <a:p>
            <a:pPr algn="l">
              <a:spcAft>
                <a:spcPts val="400"/>
              </a:spcAft>
              <a:lnSpc>
                <a:spcPct val="140000"/>
              </a:lnSpc>
            </a:pPr>
            <a:r>
              <a:rPr sz="1200">
                <a:solidFill>
                  <a:srgbClr val="6B7D7A"/>
                </a:solidFill>
                <a:latin typeface="Arial"/>
              </a:rPr>
              <a:t>敬请期待接下来的更新</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https://x.com/sama/status/2049315574120055054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24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来自Sam Altman的分享</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Sam Altman  @sama</a:t>
            </a:r>
          </a:p>
        </p:txBody>
      </p:sp>
      <p:sp>
        <p:nvSpPr>
          <p:cNvPr id="8" name="TextBox 7"/>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https://x.com/sama/status/2049314532892475791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25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来自Sam Altman的分享</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Sam Altman  @sama</a:t>
            </a:r>
          </a:p>
        </p:txBody>
      </p:sp>
      <p:sp>
        <p:nvSpPr>
          <p:cNvPr id="8" name="TextBox 7"/>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https://x.com/sama/status/2049241518540808440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26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codex 现在会在我们提交的每个提交上</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Steinberger  @steipete</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codex now runs on each commit we land, reviews it - and if a booboo is found, a new codex spins up and (if still relevant) makes a PR for the fix. </a:t>
            </a:r>
          </a:p>
          <a:p>
            <a:pPr algn="l">
              <a:spcAft>
                <a:spcPts val="400"/>
              </a:spcAft>
              <a:lnSpc>
                <a:spcPct val="140000"/>
              </a:lnSpc>
            </a:pPr>
            <a:r>
              <a:rPr sz="1300">
                <a:solidFill>
                  <a:srgbClr val="1A2827"/>
                </a:solidFill>
                <a:latin typeface="Arial"/>
              </a:rPr>
              <a:t>Then a review agent spins up. If an issue is found, another agent will fix the issues. (up to 5 loops)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codex 现在会在我们提交的每个提交上运行并审查它——如果发现错误，一个新的 codex 实例会启动，并且（如果仍然相关）会为修复创建一个拉取请求。</a:t>
            </a:r>
          </a:p>
          <a:p>
            <a:pPr algn="l">
              <a:spcAft>
                <a:spcPts val="400"/>
              </a:spcAft>
              <a:lnSpc>
                <a:spcPct val="140000"/>
              </a:lnSpc>
            </a:pPr>
            <a:r>
              <a:rPr sz="1200">
                <a:solidFill>
                  <a:srgbClr val="6B7D7A"/>
                </a:solidFill>
                <a:latin typeface="Arial"/>
              </a:rPr>
              <a:t>然后，一个审查代理会启动。如果发现问题，另一个代理将修复这些问题。（最多循环5次）</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https://x.com/steipete/status/2049356949523730699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27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我现在每次提交到主分支时都会启动一个 C</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Steinberger  @steipete</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I'm now spinning up a codex instance on every commit landing on main, looking for booboos (regressions, security issues)</a:t>
            </a:r>
          </a:p>
          <a:p>
            <a:pPr algn="l">
              <a:spcAft>
                <a:spcPts val="400"/>
              </a:spcAft>
              <a:lnSpc>
                <a:spcPct val="140000"/>
              </a:lnSpc>
            </a:pPr>
            <a:r>
              <a:rPr sz="1300">
                <a:solidFill>
                  <a:srgbClr val="1A2827"/>
                </a:solidFill>
                <a:latin typeface="Arial"/>
              </a:rPr>
              <a:t>It's live for 10 min and already found one of mine.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我现在每次提交到主分支时都会启动一个 Codex 实例，用来查找错误（回归问题、安全漏洞）</a:t>
            </a:r>
          </a:p>
          <a:p>
            <a:pPr algn="l">
              <a:spcAft>
                <a:spcPts val="400"/>
              </a:spcAft>
              <a:lnSpc>
                <a:spcPct val="140000"/>
              </a:lnSpc>
            </a:pPr>
            <a:r>
              <a:rPr sz="1200">
                <a:solidFill>
                  <a:srgbClr val="6B7D7A"/>
                </a:solidFill>
                <a:latin typeface="Arial"/>
              </a:rPr>
              <a:t>它上线仅10分钟就已经发现了我自己的一处问题。</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https://x.com/steipete/status/2049290741013262522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28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我闻到了泄露的味道。</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Peter Steinberger  @steipete</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I smell a leak.</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我闻到了泄露的味道。</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https://x.com/steipete/status/2049290265026773172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29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拥有过剩算力的奢侈</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Nan Yu  @thenanyu</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The luxury of having excess compute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拥有过剩算力的奢侈</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https://x.com/thenanyu/status/2049075513444999515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30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我的执念是当CC在大文件写入时偶尔看起来</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Thariq  @trq212</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my white whale is when CC sometimes looks like it hangs during big file writes, I think we found it 😭</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我的执念是当CC在大文件写入时偶尔看起来像卡住了一样，我觉得我们找到原因了</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https://x.com/trq212/status/2049252080892973563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31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这其中很大一部分工作，</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Thariq  @trq212</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a big part of this is we're working on making the no flicker renderer excellent so we can ship it as the default renderer, more updates coming there</a:t>
            </a:r>
          </a:p>
          <a:p>
            <a:pPr algn="l">
              <a:spcAft>
                <a:spcPts val="400"/>
              </a:spcAft>
              <a:lnSpc>
                <a:spcPct val="140000"/>
              </a:lnSpc>
            </a:pPr>
            <a:r>
              <a:rPr sz="1300">
                <a:solidFill>
                  <a:srgbClr val="1A2827"/>
                </a:solidFill>
                <a:latin typeface="Arial"/>
              </a:rPr>
              <a:t>but lots of other papercuts coming</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这其中很大一部分工作，是我们正在努力让无闪烁渲染器变得出色，以便将其作为默认渲染器推出，更多更新即将到来</a:t>
            </a:r>
          </a:p>
          <a:p>
            <a:pPr algn="l">
              <a:spcAft>
                <a:spcPts val="400"/>
              </a:spcAft>
              <a:lnSpc>
                <a:spcPct val="140000"/>
              </a:lnSpc>
            </a:pPr>
            <a:r>
              <a:rPr sz="1200">
                <a:solidFill>
                  <a:srgbClr val="6B7D7A"/>
                </a:solidFill>
                <a:latin typeface="Arial"/>
              </a:rPr>
              <a:t>但还有许多其他小问题正在修复中</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https://x.com/trq212/status/2049234229926695188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32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我们正在加大力度，</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Thariq  @trq212</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we're doing a lot more of this, hunting down some of the most annoying bugs in Claude Code</a:t>
            </a:r>
          </a:p>
          <a:p>
            <a:pPr algn="l">
              <a:spcAft>
                <a:spcPts val="400"/>
              </a:spcAft>
              <a:lnSpc>
                <a:spcPct val="140000"/>
              </a:lnSpc>
            </a:pPr>
            <a:r>
              <a:rPr sz="1300">
                <a:solidFill>
                  <a:srgbClr val="1A2827"/>
                </a:solidFill>
                <a:latin typeface="Arial"/>
              </a:rPr>
              <a:t>let me know if you have any white whales</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我们正在加大力度，追查Claude Code中最令人头疼的漏洞</a:t>
            </a:r>
          </a:p>
          <a:p>
            <a:pPr algn="l">
              <a:spcAft>
                <a:spcPts val="400"/>
              </a:spcAft>
              <a:lnSpc>
                <a:spcPct val="140000"/>
              </a:lnSpc>
            </a:pPr>
            <a:r>
              <a:rPr sz="1200">
                <a:solidFill>
                  <a:srgbClr val="6B7D7A"/>
                </a:solidFill>
                <a:latin typeface="Arial"/>
              </a:rPr>
              <a:t>如果你有任何难以解决的顽固问题，请告诉我</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https://x.com/trq212/status/2049234228290961690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33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别让AI生成图片；让它生成SVG！</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Zara Zhang  @zarazhangrui</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Don't get AI to generate images; get them to generate SVGs!</a:t>
            </a:r>
          </a:p>
          <a:p>
            <a:pPr algn="l">
              <a:spcAft>
                <a:spcPts val="400"/>
              </a:spcAft>
              <a:lnSpc>
                <a:spcPct val="140000"/>
              </a:lnSpc>
            </a:pPr>
            <a:r>
              <a:rPr sz="1300">
                <a:solidFill>
                  <a:srgbClr val="1A2827"/>
                </a:solidFill>
                <a:latin typeface="Arial"/>
              </a:rPr>
              <a:t>Vector illustrations that seamlessly blend into the design style is the perfect complement to HTML Slides </a:t>
            </a:r>
          </a:p>
          <a:p>
            <a:pPr algn="l">
              <a:spcAft>
                <a:spcPts val="400"/>
              </a:spcAft>
              <a:lnSpc>
                <a:spcPct val="140000"/>
              </a:lnSpc>
            </a:pPr>
            <a:r>
              <a:rPr sz="1300">
                <a:solidFill>
                  <a:srgbClr val="1A2827"/>
                </a:solidFill>
                <a:latin typeface="Arial"/>
              </a:rPr>
              <a:t>(Here I'm using the @QuiverAI API inside @AnyGenIO's Frontend Slides feature</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别让AI生成图片；让它生成SVG！</a:t>
            </a:r>
          </a:p>
          <a:p>
            <a:pPr algn="l">
              <a:spcAft>
                <a:spcPts val="400"/>
              </a:spcAft>
              <a:lnSpc>
                <a:spcPct val="140000"/>
              </a:lnSpc>
            </a:pPr>
            <a:r>
              <a:rPr sz="1200">
                <a:solidFill>
                  <a:srgbClr val="6B7D7A"/>
                </a:solidFill>
                <a:latin typeface="Arial"/>
              </a:rPr>
              <a:t>能够无缝融入设计风格的矢量插图，是HTML幻灯片的完美补充</a:t>
            </a:r>
          </a:p>
          <a:p>
            <a:pPr algn="l">
              <a:spcAft>
                <a:spcPts val="400"/>
              </a:spcAft>
              <a:lnSpc>
                <a:spcPct val="140000"/>
              </a:lnSpc>
            </a:pPr>
            <a:r>
              <a:rPr sz="1200">
                <a:solidFill>
                  <a:srgbClr val="6B7D7A"/>
                </a:solidFill>
                <a:latin typeface="Arial"/>
              </a:rPr>
              <a:t>（这里我使用的是@AnyGenIO的Frontend Slides功能中的@QuiverAI API</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https://x.com/zarazhangrui/status/2049258231042805806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2743200" cy="365760"/>
          </a:xfrm>
          <a:prstGeom prst="rect">
            <a:avLst/>
          </a:prstGeom>
          <a:noFill/>
        </p:spPr>
        <p:txBody>
          <a:bodyPr wrap="square">
            <a:spAutoFit/>
          </a:bodyPr>
          <a:lstStyle/>
          <a:p>
            <a:pPr algn="l">
              <a:spcBef>
                <a:spcPts val="0"/>
              </a:spcBef>
              <a:spcAft>
                <a:spcPts val="0"/>
              </a:spcAft>
              <a:lnSpc>
                <a:spcPct val="130000"/>
              </a:lnSpc>
            </a:pPr>
            <a:r>
              <a:rPr sz="900" b="0">
                <a:solidFill>
                  <a:srgbClr val="6B7D7A"/>
                </a:solidFill>
                <a:latin typeface="Arial"/>
              </a:rPr>
              <a:t>牛雪梨AI  |  Builder Digest</a:t>
            </a:r>
          </a:p>
        </p:txBody>
      </p:sp>
      <p:sp>
        <p:nvSpPr>
          <p:cNvPr id="4" name="TextBox 3"/>
          <p:cNvSpPr txBox="1"/>
          <p:nvPr/>
        </p:nvSpPr>
        <p:spPr>
          <a:xfrm>
            <a:off x="10820095" y="6446520"/>
            <a:ext cx="1097280" cy="274320"/>
          </a:xfrm>
          <a:prstGeom prst="rect">
            <a:avLst/>
          </a:prstGeom>
          <a:noFill/>
        </p:spPr>
        <p:txBody>
          <a:bodyPr wrap="none">
            <a:spAutoFit/>
          </a:bodyPr>
          <a:lstStyle/>
          <a:p>
            <a:pPr algn="r"/>
            <a:r>
              <a:rPr sz="900">
                <a:solidFill>
                  <a:srgbClr val="6B7D7A"/>
                </a:solidFill>
                <a:latin typeface="Arial"/>
              </a:rPr>
              <a:t>34 / 34</a:t>
            </a:r>
          </a:p>
        </p:txBody>
      </p:sp>
      <p:sp>
        <p:nvSpPr>
          <p:cNvPr id="5" name="Rectangle 4"/>
          <p:cNvSpPr/>
          <p:nvPr/>
        </p:nvSpPr>
        <p:spPr>
          <a:xfrm>
            <a:off x="822960" y="731520"/>
            <a:ext cx="45720" cy="530352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914400"/>
            <a:ext cx="9814255" cy="731520"/>
          </a:xfrm>
          <a:prstGeom prst="rect">
            <a:avLst/>
          </a:prstGeom>
          <a:noFill/>
        </p:spPr>
        <p:txBody>
          <a:bodyPr wrap="square">
            <a:spAutoFit/>
          </a:bodyPr>
          <a:lstStyle/>
          <a:p>
            <a:pPr algn="l">
              <a:spcBef>
                <a:spcPts val="0"/>
              </a:spcBef>
              <a:spcAft>
                <a:spcPts val="0"/>
              </a:spcAft>
              <a:lnSpc>
                <a:spcPct val="120000"/>
              </a:lnSpc>
            </a:pPr>
            <a:r>
              <a:rPr sz="2200" b="1">
                <a:solidFill>
                  <a:srgbClr val="0D1B1A"/>
                </a:solidFill>
                <a:latin typeface="Arial"/>
              </a:rPr>
              <a:t>对此非常感兴趣</a:t>
            </a:r>
          </a:p>
        </p:txBody>
      </p:sp>
      <p:sp>
        <p:nvSpPr>
          <p:cNvPr id="7" name="TextBox 6"/>
          <p:cNvSpPr txBox="1"/>
          <p:nvPr/>
        </p:nvSpPr>
        <p:spPr>
          <a:xfrm>
            <a:off x="1280160" y="1691640"/>
            <a:ext cx="9814255" cy="320040"/>
          </a:xfrm>
          <a:prstGeom prst="rect">
            <a:avLst/>
          </a:prstGeom>
          <a:noFill/>
        </p:spPr>
        <p:txBody>
          <a:bodyPr wrap="square">
            <a:spAutoFit/>
          </a:bodyPr>
          <a:lstStyle/>
          <a:p>
            <a:pPr algn="l">
              <a:spcBef>
                <a:spcPts val="0"/>
              </a:spcBef>
              <a:spcAft>
                <a:spcPts val="0"/>
              </a:spcAft>
              <a:lnSpc>
                <a:spcPct val="130000"/>
              </a:lnSpc>
            </a:pPr>
            <a:r>
              <a:rPr sz="1100" b="0">
                <a:solidFill>
                  <a:srgbClr val="35C1BE"/>
                </a:solidFill>
                <a:latin typeface="Arial"/>
              </a:rPr>
              <a:t>Zara Zhang  @zarazhangrui</a:t>
            </a:r>
          </a:p>
        </p:txBody>
      </p:sp>
      <p:sp>
        <p:nvSpPr>
          <p:cNvPr id="8" name="TextBox 7"/>
          <p:cNvSpPr txBox="1"/>
          <p:nvPr/>
        </p:nvSpPr>
        <p:spPr>
          <a:xfrm>
            <a:off x="1280160" y="2286000"/>
            <a:ext cx="9814255" cy="1828800"/>
          </a:xfrm>
          <a:prstGeom prst="rect">
            <a:avLst/>
          </a:prstGeom>
          <a:noFill/>
        </p:spPr>
        <p:txBody>
          <a:bodyPr wrap="square">
            <a:spAutoFit/>
          </a:bodyPr>
          <a:lstStyle/>
          <a:p>
            <a:pPr algn="l">
              <a:spcAft>
                <a:spcPts val="400"/>
              </a:spcAft>
              <a:lnSpc>
                <a:spcPct val="140000"/>
              </a:lnSpc>
            </a:pPr>
            <a:r>
              <a:rPr sz="1300">
                <a:solidFill>
                  <a:srgbClr val="1A2827"/>
                </a:solidFill>
                <a:latin typeface="Arial"/>
              </a:rPr>
              <a:t>Very interested in this</a:t>
            </a:r>
          </a:p>
          <a:p>
            <a:pPr algn="l">
              <a:spcAft>
                <a:spcPts val="400"/>
              </a:spcAft>
              <a:lnSpc>
                <a:spcPct val="140000"/>
              </a:lnSpc>
            </a:pPr>
            <a:r>
              <a:rPr sz="1300">
                <a:solidFill>
                  <a:srgbClr val="1A2827"/>
                </a:solidFill>
                <a:latin typeface="Arial"/>
              </a:rPr>
              <a:t>I used to build web apps with GUI; now I just share GitHub repos with the code and people can customize the UI however they like</a:t>
            </a:r>
          </a:p>
          <a:p>
            <a:pPr algn="l">
              <a:spcAft>
                <a:spcPts val="400"/>
              </a:spcAft>
              <a:lnSpc>
                <a:spcPct val="140000"/>
              </a:lnSpc>
            </a:pPr>
            <a:r>
              <a:rPr sz="1300">
                <a:solidFill>
                  <a:srgbClr val="1A2827"/>
                </a:solidFill>
                <a:latin typeface="Arial"/>
              </a:rPr>
              <a:t>Kind of like Karpathy's "idea file": just write down the idea, and people's agents can build it for them in a customized way</a:t>
            </a:r>
          </a:p>
        </p:txBody>
      </p:sp>
      <p:sp>
        <p:nvSpPr>
          <p:cNvPr id="9" name="TextBox 8"/>
          <p:cNvSpPr txBox="1"/>
          <p:nvPr/>
        </p:nvSpPr>
        <p:spPr>
          <a:xfrm>
            <a:off x="1280160" y="4297680"/>
            <a:ext cx="9814255" cy="1828800"/>
          </a:xfrm>
          <a:prstGeom prst="rect">
            <a:avLst/>
          </a:prstGeom>
          <a:noFill/>
        </p:spPr>
        <p:txBody>
          <a:bodyPr wrap="square">
            <a:spAutoFit/>
          </a:bodyPr>
          <a:lstStyle/>
          <a:p>
            <a:pPr algn="l">
              <a:spcAft>
                <a:spcPts val="400"/>
              </a:spcAft>
              <a:lnSpc>
                <a:spcPct val="140000"/>
              </a:lnSpc>
            </a:pPr>
            <a:r>
              <a:rPr sz="1200">
                <a:solidFill>
                  <a:srgbClr val="6B7D7A"/>
                </a:solidFill>
                <a:latin typeface="Arial"/>
              </a:rPr>
              <a:t>对此非常感兴趣</a:t>
            </a:r>
          </a:p>
          <a:p>
            <a:pPr algn="l">
              <a:spcAft>
                <a:spcPts val="400"/>
              </a:spcAft>
              <a:lnSpc>
                <a:spcPct val="140000"/>
              </a:lnSpc>
            </a:pPr>
            <a:r>
              <a:rPr sz="1200">
                <a:solidFill>
                  <a:srgbClr val="6B7D7A"/>
                </a:solidFill>
                <a:latin typeface="Arial"/>
              </a:rPr>
              <a:t>过去我用图形界面构建网页应用；如今只需分享包含代码的GitHub仓库，人们便能随心定制用户界面</a:t>
            </a:r>
          </a:p>
          <a:p>
            <a:pPr algn="l">
              <a:spcAft>
                <a:spcPts val="400"/>
              </a:spcAft>
              <a:lnSpc>
                <a:spcPct val="140000"/>
              </a:lnSpc>
            </a:pPr>
            <a:r>
              <a:rPr sz="1200">
                <a:solidFill>
                  <a:srgbClr val="6B7D7A"/>
                </a:solidFill>
                <a:latin typeface="Arial"/>
              </a:rPr>
              <a:t>这有点像卡帕西的“创意文档”：只需写下想法，人们的智能体就能以个性化方式为其实现</a:t>
            </a:r>
          </a:p>
        </p:txBody>
      </p:sp>
      <p:sp>
        <p:nvSpPr>
          <p:cNvPr id="10" name="TextBox 9"/>
          <p:cNvSpPr txBox="1"/>
          <p:nvPr/>
        </p:nvSpPr>
        <p:spPr>
          <a:xfrm>
            <a:off x="1280160" y="6217920"/>
            <a:ext cx="9814255" cy="320040"/>
          </a:xfrm>
          <a:prstGeom prst="rect">
            <a:avLst/>
          </a:prstGeom>
          <a:noFill/>
        </p:spPr>
        <p:txBody>
          <a:bodyPr wrap="square">
            <a:spAutoFit/>
          </a:bodyPr>
          <a:lstStyle/>
          <a:p>
            <a:pPr algn="l">
              <a:spcBef>
                <a:spcPts val="0"/>
              </a:spcBef>
              <a:spcAft>
                <a:spcPts val="0"/>
              </a:spcAft>
              <a:lnSpc>
                <a:spcPct val="130000"/>
              </a:lnSpc>
            </a:pPr>
            <a:r>
              <a:rPr sz="900" b="0">
                <a:solidFill>
                  <a:srgbClr val="9AAFAC"/>
                </a:solidFill>
                <a:latin typeface="Arial"/>
              </a:rPr>
              <a:t>查看全文: https://x.com/zarazhangrui/status/2049186121314415054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0" y="1828800"/>
            <a:ext cx="73152" cy="1828800"/>
          </a:xfrm>
          <a:prstGeom prst="rect">
            <a:avLst/>
          </a:prstGeom>
          <a:solidFill>
            <a:srgbClr val="35C1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1828800"/>
            <a:ext cx="7315200" cy="731520"/>
          </a:xfrm>
          <a:prstGeom prst="rect">
            <a:avLst/>
          </a:prstGeom>
          <a:noFill/>
        </p:spPr>
        <p:txBody>
          <a:bodyPr wrap="square">
            <a:spAutoFit/>
          </a:bodyPr>
          <a:lstStyle/>
          <a:p>
            <a:pPr algn="l">
              <a:spcBef>
                <a:spcPts val="0"/>
              </a:spcBef>
              <a:spcAft>
                <a:spcPts val="0"/>
              </a:spcAft>
              <a:lnSpc>
                <a:spcPct val="130000"/>
              </a:lnSpc>
            </a:pPr>
            <a:r>
              <a:rPr sz="3600" b="1">
                <a:solidFill>
                  <a:srgbClr val="0D1B1A"/>
                </a:solidFill>
                <a:latin typeface="Arial"/>
              </a:rPr>
              <a:t>明天见</a:t>
            </a:r>
          </a:p>
        </p:txBody>
      </p:sp>
      <p:sp>
        <p:nvSpPr>
          <p:cNvPr id="6" name="TextBox 5"/>
          <p:cNvSpPr txBox="1"/>
          <p:nvPr/>
        </p:nvSpPr>
        <p:spPr>
          <a:xfrm>
            <a:off x="2743200" y="2651760"/>
            <a:ext cx="7315200" cy="457200"/>
          </a:xfrm>
          <a:prstGeom prst="rect">
            <a:avLst/>
          </a:prstGeom>
          <a:noFill/>
        </p:spPr>
        <p:txBody>
          <a:bodyPr wrap="square">
            <a:spAutoFit/>
          </a:bodyPr>
          <a:lstStyle/>
          <a:p>
            <a:pPr algn="l">
              <a:spcBef>
                <a:spcPts val="0"/>
              </a:spcBef>
              <a:spcAft>
                <a:spcPts val="0"/>
              </a:spcAft>
              <a:lnSpc>
                <a:spcPct val="130000"/>
              </a:lnSpc>
            </a:pPr>
            <a:r>
              <a:rPr sz="1600" b="0">
                <a:solidFill>
                  <a:srgbClr val="6B7D7A"/>
                </a:solidFill>
                <a:latin typeface="Arial"/>
              </a:rPr>
              <a:t>牛雪梨AI  ·  Builder Digest</a:t>
            </a:r>
          </a:p>
        </p:txBody>
      </p:sp>
      <p:sp>
        <p:nvSpPr>
          <p:cNvPr id="7" name="TextBox 6"/>
          <p:cNvSpPr txBox="1"/>
          <p:nvPr/>
        </p:nvSpPr>
        <p:spPr>
          <a:xfrm>
            <a:off x="2743200" y="3291840"/>
            <a:ext cx="7315200" cy="1828800"/>
          </a:xfrm>
          <a:prstGeom prst="rect">
            <a:avLst/>
          </a:prstGeom>
          <a:noFill/>
        </p:spPr>
        <p:txBody>
          <a:bodyPr wrap="square">
            <a:spAutoFit/>
          </a:bodyPr>
          <a:lstStyle/>
          <a:p>
            <a:pPr algn="l">
              <a:spcAft>
                <a:spcPts val="400"/>
              </a:spcAft>
              <a:lnSpc>
                <a:spcPct val="150000"/>
              </a:lnSpc>
            </a:pPr>
            <a:r>
              <a:rPr sz="1300">
                <a:solidFill>
                  <a:srgbClr val="9AAFAC"/>
                </a:solidFill>
                <a:latin typeface="Arial"/>
              </a:rPr>
              <a:t>订阅 &amp; 合作</a:t>
            </a:r>
          </a:p>
          <a:p>
            <a:pPr algn="l">
              <a:spcAft>
                <a:spcPts val="400"/>
              </a:spcAft>
              <a:lnSpc>
                <a:spcPct val="150000"/>
              </a:lnSpc>
            </a:pPr>
            <a:r>
              <a:rPr sz="1300">
                <a:solidFill>
                  <a:srgbClr val="9AAFAC"/>
                </a:solidFill>
                <a:latin typeface="Arial"/>
              </a:rPr>
              <a:t>X:  @niuxueli_ai</a:t>
            </a:r>
            <a:br/>
            <a:r>
              <a:rPr sz="1300">
                <a:solidFill>
                  <a:srgbClr val="9AAFAC"/>
                </a:solidFill>
                <a:latin typeface="Arial"/>
              </a:rPr>
              <a:t>Email:  915746437@qq.com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